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62D48"/>
          </a:solidFill>
          <a:ln w="12700">
            <a:solidFill>
              <a:srgbClr val="162D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FUND ANALYTICS PLATFORM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Project | Bluestock Fintech Pvt. Ltd.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Data Engineering | ETL Pipeline | Analytics | Power BI Dashboard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E3A5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334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9992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Schemes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26060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E3A5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26334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46K+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06040" y="29992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 Records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6060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E3A5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6334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32K+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29992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20840" y="26060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E3A5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26334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Rs.81L Cr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20840" y="29992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AUM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Capstone  |  7 Days  |  June 2026  |  Data: AMFI India + mfapi.in + NSE/BSE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Intern, Data Analyst  |  github.com/kpavan97/bluestock_mf_capstone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Objective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841248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014984"/>
            <a:ext cx="438912" cy="43891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149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" y="96926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Fragmentation: 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71800" y="969264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NAV, AUM, SIP and holdings data scattered across different AMFI sections in different formats.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00784"/>
            <a:ext cx="841248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819656"/>
            <a:ext cx="438912" cy="43891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196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" y="177393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Unified Analytics: 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71800" y="1773936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 cannot compare funds on risk-adjusted basis without computing Sharpe, Alpha, Beta themselves.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505456"/>
            <a:ext cx="841248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624328"/>
            <a:ext cx="438912" cy="43891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24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" y="257860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Benchmark Tracking: 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71800" y="2578608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retail investors do not know if their fund is beating the Nifty 50 or Nifty 100 index.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310128"/>
            <a:ext cx="841248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3429000"/>
            <a:ext cx="438912" cy="43891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4290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1560" y="3383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Behaviour Blind Spot: 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71800" y="338328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AMCs lack visibility into how demographics and geography influence SIP and redemption patterns.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114800"/>
            <a:ext cx="841248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4233672"/>
            <a:ext cx="438912" cy="43891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2336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1560" y="418795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Static Reporting: 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971800" y="4187952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MF reports are static PDFs that take days to prepare with no drill-down capability.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 — 10 Real-World Datasets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04672"/>
          <a:ext cx="8412480" cy="4114800"/>
        </p:xfrm>
        <a:graphic>
          <a:graphicData uri="http://schemas.openxmlformats.org/drawingml/2006/table">
            <a:tbl>
              <a:tblPr/>
              <a:tblGrid>
                <a:gridCol w="2743200"/>
                <a:gridCol w="914400"/>
                <a:gridCol w="4754880"/>
              </a:tblGrid>
              <a:tr h="3740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Size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740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01_fund_master.csv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 rows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 AMFI schemes — codes, fund house, expense ratio, risk grade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0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02_nav_history.csv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46,000+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NAV Jan 2022 to May 2026 (anchored to real mfapi.in values)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740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03_aum_by_fund_house.csv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 rows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Quarterly AUM for top 10 AMCs (SBI Rs.12.5L Cr anchor)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0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04_monthly_sip_inflows.csv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 rows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SIP inflows, active accounts, SIP AUM (Dec 2025 Rs.31K Cr)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740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05_category_inflows.csv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 rows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inflows by category — Large Cap, Mid Cap, Small Cap, Liquid etc.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0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06_industry_folio_count.csv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 rows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MF folios growth from 13.26 Cr to 26.12 Cr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740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07_scheme_performance.csv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 rows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Sharpe, Sortino, Alpha, Beta, CAGR, Max Drawdown for all 40 funds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0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08_investor_transactions.csv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32,000+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SIP/Lumpsum/Redemption for 5,000 investors across 12 states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740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09_portfolio_holdings.csv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 rows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stock holdings, sector weights for all equity funds (Dec 2025)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0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10_benchmark_indices.csv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8,050 rows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Nifty 50, Nifty 100, BSE SmallCap, CRISIL Liquid &amp; Gilt daily closes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— ETL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1554480" cy="40690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868680"/>
            <a:ext cx="155448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111556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1600200"/>
            <a:ext cx="14081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AMFI CSV Files (10 datasets)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" y="2194560"/>
            <a:ext cx="14081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mfapi.in REST API (live NAV)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2788920"/>
            <a:ext cx="14081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NSE/BSE benchmark indices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0" y="2788920"/>
            <a:ext cx="164592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93392" y="868680"/>
            <a:ext cx="1554480" cy="40690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93392" y="868680"/>
            <a:ext cx="1554480" cy="5943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868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93392" y="111556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66544" y="1600200"/>
            <a:ext cx="14081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dates, fix types, drop dupes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66544" y="2194560"/>
            <a:ext cx="14081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Forward-fill weekends/holidays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66544" y="2788920"/>
            <a:ext cx="14081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daily returns, CAGR, Sharpe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47872" y="2788920"/>
            <a:ext cx="164592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12464" y="868680"/>
            <a:ext cx="1554480" cy="40690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12464" y="868680"/>
            <a:ext cx="1554480" cy="5943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12464" y="868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12464" y="111556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85616" y="1600200"/>
            <a:ext cx="14081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star schema (8 tables)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85616" y="2194560"/>
            <a:ext cx="14081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 ORM via df.to_sql()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85616" y="2788920"/>
            <a:ext cx="14081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64,320 NAV rows loaded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266944" y="2788920"/>
            <a:ext cx="164592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31536" y="868680"/>
            <a:ext cx="1554480" cy="40690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31536" y="868680"/>
            <a:ext cx="1554480" cy="5943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31536" y="868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31536" y="111556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04688" y="1600200"/>
            <a:ext cx="14081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Jupyter notebooks (Days 3-6)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04688" y="2194560"/>
            <a:ext cx="14081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Sharpe, Alpha, Beta, VaR, HHI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04688" y="2788920"/>
            <a:ext cx="14081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 charts, fund scorecard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986016" y="2788920"/>
            <a:ext cx="164592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50608" y="868680"/>
            <a:ext cx="1554480" cy="40690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150608" y="868680"/>
            <a:ext cx="1554480" cy="5943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50608" y="868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150608" y="111556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23760" y="1600200"/>
            <a:ext cx="14081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4-page dashboard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223760" y="2194560"/>
            <a:ext cx="14081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slicers &amp; filters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223760" y="2788920"/>
            <a:ext cx="14081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Exported PDF + PNG reports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Scripts: data_ingestion.py  |  live_nav_fetch.py  |  etl_pipeline.py  |  compute_metrics.py  |  recommender.py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Highlights — NAV Trends &amp; AUM Growth</a:t>
            </a:r>
            <a:endParaRPr lang="en-US" sz="2600" dirty="0"/>
          </a:p>
        </p:txBody>
      </p:sp>
      <p:pic>
        <p:nvPicPr>
          <p:cNvPr id="3" name="Image 0" descr="/home/claude/nav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85800"/>
            <a:ext cx="5029200" cy="2468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3200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 Trend 2022-2026: 2023 Bull Run (green) and 2024 Correction (red) clearly visible across all 10 funds.</a:t>
            </a:r>
            <a:endParaRPr lang="en-US" sz="900" dirty="0"/>
          </a:p>
        </p:txBody>
      </p:sp>
      <p:pic>
        <p:nvPicPr>
          <p:cNvPr id="5" name="Image 1" descr="/home/claude/aum_grow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85800"/>
            <a:ext cx="3383280" cy="2011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0" y="2743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 leads at Rs.12.5L Cr AUM — nearly 20% of entire Indian MF industry.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5349240" y="324612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EBF5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532120" y="3337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532120" y="3639312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10 fund houses grew AUM every year from 2022 to 2025. The industry is not slowing down — it is accelerating.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Highlights — SIP Growth &amp; Category Inflows</a:t>
            </a:r>
            <a:endParaRPr lang="en-US" sz="2600" dirty="0"/>
          </a:p>
        </p:txBody>
      </p:sp>
      <p:pic>
        <p:nvPicPr>
          <p:cNvPr id="3" name="Image 0" descr="/home/claude/sip_accou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85800"/>
            <a:ext cx="5120640" cy="2148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28803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inflows tripled from Rs.11K Cr (Jan 2022) to Rs.31K Cr (Dec 2025). Active accounts grew from 5 Cr to 9 Cr.</a:t>
            </a:r>
            <a:endParaRPr lang="en-US" sz="900" dirty="0"/>
          </a:p>
        </p:txBody>
      </p:sp>
      <p:pic>
        <p:nvPicPr>
          <p:cNvPr id="5" name="Image 1" descr="/home/claude/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429000"/>
            <a:ext cx="5120640" cy="1554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50109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 funds (green row) attract consistent inflows every month. Most equity categories show red during corrections.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5577840" y="685800"/>
            <a:ext cx="3291840" cy="2286000"/>
          </a:xfrm>
          <a:prstGeom prst="roundRect">
            <a:avLst>
              <a:gd name="adj" fmla="val 3200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623560" y="8229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31,002 Cr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5623560" y="1417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2025 All-Time High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623560" y="16916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SIP Inflow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577840" y="3154680"/>
            <a:ext cx="3291840" cy="2148840"/>
          </a:xfrm>
          <a:prstGeom prst="roundRect">
            <a:avLst>
              <a:gd name="adj" fmla="val 3404"/>
            </a:avLst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23560" y="32918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9.35 Crore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5623560" y="38404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3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SIP Accounts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623560" y="41330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2025 — up from 5 Cr in Jan 2022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Metrics — CAGR &amp; Risk-Return</a:t>
            </a:r>
            <a:endParaRPr lang="en-US" sz="2600" dirty="0"/>
          </a:p>
        </p:txBody>
      </p:sp>
      <p:pic>
        <p:nvPicPr>
          <p:cNvPr id="3" name="Image 0" descr="/home/claude/top_retur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85800"/>
            <a:ext cx="50292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3474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funds by 3-Year CAGR. Small Cap funds dominate, led by SBI Small Cap Fund at 23.4%.</a:t>
            </a:r>
            <a:endParaRPr lang="en-US" sz="900" dirty="0"/>
          </a:p>
        </p:txBody>
      </p:sp>
      <p:pic>
        <p:nvPicPr>
          <p:cNvPr id="5" name="Image 1" descr="/home/claude/risk_retu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85800"/>
            <a:ext cx="3383280" cy="2560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0" y="3291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vs Return scatter. High risk = high return as expected. Very High grade funds cluster top-right.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5486400" y="379476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486400" y="38404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23.4%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486400" y="431596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3Y Return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5486400" y="45720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 Small Cap Fund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7223760" y="379476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223760" y="38404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7.68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7223760" y="431596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Sharpe Ratio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7223760" y="45720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ICICI Pru Liquid Fund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Metrics — Sharpe Ratio &amp; Benchmark</a:t>
            </a:r>
            <a:endParaRPr lang="en-US" sz="2600" dirty="0"/>
          </a:p>
        </p:txBody>
      </p:sp>
      <p:pic>
        <p:nvPicPr>
          <p:cNvPr id="3" name="Image 0" descr="/home/claude/shar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85800"/>
            <a:ext cx="292608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49194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 Ratio ranking all 40 funds. Liquid funds lead at 5-7. Equity funds cluster around 1.0.</a:t>
            </a:r>
            <a:endParaRPr lang="en-US" sz="800" dirty="0"/>
          </a:p>
        </p:txBody>
      </p:sp>
      <p:pic>
        <p:nvPicPr>
          <p:cNvPr id="5" name="Image 1" descr="/home/claude/bench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685800"/>
            <a:ext cx="5577840" cy="23774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91840" y="310896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funds vs Nifty 50 and Nifty 100 (Base=100). All 5 funds significantly outperform both indices over 3 years.</a:t>
            </a:r>
            <a:endParaRPr lang="en-US" sz="900" dirty="0"/>
          </a:p>
        </p:txBody>
      </p:sp>
      <p:pic>
        <p:nvPicPr>
          <p:cNvPr id="7" name="Image 2" descr="/home/claude/rolling_sharp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3611880"/>
            <a:ext cx="5577840" cy="1463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291840" y="5102352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90-day Sharpe. HDFC Mid-Cap most consistent above Sharpe=1 throughout 2022-2026.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— Industry Overview &amp; Fund Performance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42062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7498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1: Industry Overview</a:t>
            </a:r>
            <a:endParaRPr lang="en-US" sz="1100" dirty="0"/>
          </a:p>
        </p:txBody>
      </p:sp>
      <p:pic>
        <p:nvPicPr>
          <p:cNvPr id="5" name="Image 0" descr="/home/claude/page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15568"/>
            <a:ext cx="402336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63440" y="685800"/>
            <a:ext cx="42062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846320" y="7498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2: Fund Performance</a:t>
            </a:r>
            <a:endParaRPr lang="en-US" sz="1100" dirty="0"/>
          </a:p>
        </p:txBody>
      </p:sp>
      <p:pic>
        <p:nvPicPr>
          <p:cNvPr id="8" name="Image 1" descr="/home/claude/page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1115568"/>
            <a:ext cx="40233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— Investor Analytics &amp; SIP Trends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42062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7498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3: Investor Analytics</a:t>
            </a:r>
            <a:endParaRPr lang="en-US" sz="1100" dirty="0"/>
          </a:p>
        </p:txBody>
      </p:sp>
      <p:pic>
        <p:nvPicPr>
          <p:cNvPr id="5" name="Image 0" descr="/home/claude/page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15568"/>
            <a:ext cx="402336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63440" y="685800"/>
            <a:ext cx="42062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846320" y="7498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4: SIP &amp; Market Trends</a:t>
            </a:r>
            <a:endParaRPr lang="en-US" sz="1100" dirty="0"/>
          </a:p>
        </p:txBody>
      </p:sp>
      <p:pic>
        <p:nvPicPr>
          <p:cNvPr id="8" name="Image 1" descr="/home/claude/page4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1115568"/>
            <a:ext cx="40233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Key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804672"/>
            <a:ext cx="4206240" cy="731520"/>
          </a:xfrm>
          <a:prstGeom prst="roundRect">
            <a:avLst>
              <a:gd name="adj" fmla="val 8750"/>
            </a:avLst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50976"/>
            <a:ext cx="420624" cy="42062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509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96112" y="877824"/>
            <a:ext cx="3456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 Mutual Fund is India's largest AMC with Rs.12.5 lakh crore AUM — nearly 20% of the entire industry.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645920"/>
            <a:ext cx="4206240" cy="731520"/>
          </a:xfrm>
          <a:prstGeom prst="roundRect">
            <a:avLst>
              <a:gd name="adj" fmla="val 8750"/>
            </a:avLst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792224"/>
            <a:ext cx="420624" cy="42062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922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96112" y="1719072"/>
            <a:ext cx="3456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SIP inflows hit an all-time high of Rs.31,002 crore in December 2025, tripling from Rs.11K Cr in 2022.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487168"/>
            <a:ext cx="4206240" cy="731520"/>
          </a:xfrm>
          <a:prstGeom prst="roundRect">
            <a:avLst>
              <a:gd name="adj" fmla="val 8750"/>
            </a:avLst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633472"/>
            <a:ext cx="420624" cy="42062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334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96112" y="2560320"/>
            <a:ext cx="3456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folios doubled from 13.26 crore to 26.12 crore between January 2022 and December 2025.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328416"/>
            <a:ext cx="4206240" cy="731520"/>
          </a:xfrm>
          <a:prstGeom prst="roundRect">
            <a:avLst>
              <a:gd name="adj" fmla="val 8750"/>
            </a:avLst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474720"/>
            <a:ext cx="420624" cy="42062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4747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96112" y="3401568"/>
            <a:ext cx="3456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26-35 age group is the biggest SIP investor segment, reflecting a generational shift to equity investing.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4169664"/>
            <a:ext cx="4206240" cy="731520"/>
          </a:xfrm>
          <a:prstGeom prst="roundRect">
            <a:avLst>
              <a:gd name="adj" fmla="val 8750"/>
            </a:avLst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4315968"/>
            <a:ext cx="420624" cy="42062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3159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96112" y="4242816"/>
            <a:ext cx="3456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Cap funds delivered the highest 3-year CAGR (above 23%) but also carry the highest risk.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804672"/>
            <a:ext cx="4206240" cy="731520"/>
          </a:xfrm>
          <a:prstGeom prst="roundRect">
            <a:avLst>
              <a:gd name="adj" fmla="val 8750"/>
            </a:avLst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950976"/>
            <a:ext cx="420624" cy="42062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9509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30952" y="877824"/>
            <a:ext cx="3456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ICICI Pru Liquid Fund leads all 40 schemes with a Sharpe Ratio of 7.68 — exceptional risk-adjusted return.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1645920"/>
            <a:ext cx="4206240" cy="731520"/>
          </a:xfrm>
          <a:prstGeom prst="roundRect">
            <a:avLst>
              <a:gd name="adj" fmla="val 8750"/>
            </a:avLst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1792224"/>
            <a:ext cx="420624" cy="42062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17922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30952" y="1719072"/>
            <a:ext cx="3456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top 5 scored funds outperformed both Nifty 50 and Nifty 100 by a wide margin over 3 years.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2487168"/>
            <a:ext cx="4206240" cy="731520"/>
          </a:xfrm>
          <a:prstGeom prst="roundRect">
            <a:avLst>
              <a:gd name="adj" fmla="val 8750"/>
            </a:avLst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2633472"/>
            <a:ext cx="420624" cy="42062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6334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30952" y="2560320"/>
            <a:ext cx="3456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and Financial Services dominates equity portfolios at 19.2%, followed by IT at 13.4%.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3328416"/>
            <a:ext cx="4206240" cy="731520"/>
          </a:xfrm>
          <a:prstGeom prst="roundRect">
            <a:avLst>
              <a:gd name="adj" fmla="val 8750"/>
            </a:avLst>
          </a:prstGeom>
          <a:solidFill>
            <a:srgbClr val="EB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3474720"/>
            <a:ext cx="420624" cy="42062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4747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30952" y="3401568"/>
            <a:ext cx="3456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 funds are the only category with consistently positive net inflows every single month of the analysis.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09160" y="4169664"/>
            <a:ext cx="4206240" cy="731520"/>
          </a:xfrm>
          <a:prstGeom prst="roundRect">
            <a:avLst>
              <a:gd name="adj" fmla="val 8750"/>
            </a:avLst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0600" y="4315968"/>
            <a:ext cx="420624" cy="42062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43159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30952" y="4242816"/>
            <a:ext cx="3456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Tier-2 cities are growing SIP participation 2.5x faster than Tier-1 cities, indicating huge untapped potential.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00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Fund Analytics Platform — Bluestock Fintech Capstone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0" y="2148840"/>
            <a:ext cx="54864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3774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62D48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245059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2450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29443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321868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github.com/kpavan97/bluestock_mf_capstone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91840" y="23774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62D48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245059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2450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91840" y="29443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321868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AMFI India + mfapi.in + NSE/BSE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80760" y="23774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62D48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86600" y="245059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2450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80760" y="29443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A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80760" y="321868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| SQL | Power BI | Git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Intern, Data Analyst  |  Bluestock Fintech Pvt. Ltd.  |  June 2026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4622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Fund investments are subject to market risks. This project is for educational purposes only.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MF Capstone</dc:title>
  <dc:subject>PptxGenJS Presentation</dc:subject>
  <dc:creator>Bluestock Fintech Intern</dc:creator>
  <cp:lastModifiedBy>Bluestock Fintech Intern</cp:lastModifiedBy>
  <cp:revision>1</cp:revision>
  <dcterms:created xsi:type="dcterms:W3CDTF">2026-06-12T04:02:23Z</dcterms:created>
  <dcterms:modified xsi:type="dcterms:W3CDTF">2026-06-12T04:02:23Z</dcterms:modified>
</cp:coreProperties>
</file>